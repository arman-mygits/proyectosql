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877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Presentaos. En una frase: nos dieron los datos de un bootcamp en CSV, sin ordenar, y los hemos convertido en una base de datos relacional en PostgreSQL, alojada en la nube.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Partimos de 5 CSV: 4 clases con 52 alumnos y sus notas, y el claustro con 10 docentes. Los datos venían repetidos en cada fila (promoción, fecha y campus) y con una columna por proyecto. Ahora vemos cómo los hemos organizado.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Entidades en verde, relaciones en rosa. Clase es el centro: cada clase es de una especialidad, una promoción y un campus (N:1). Un alumno pertenece a una clase. Dos relaciones son N:M: alumno hace proyecto, con el atributo apto, y docente asignado a clase, con rol (TA o LI) y modalidad. La modalidad va en la asignación porque en una misma clase hay docentes presenciales y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entidad pasa a ser una tabla con su clave primaria. Las relaciones N:1 son una clave foránea en el lado de los muchos, por ejemplo alumno.id_clase. Las dos N:M se convierten en tablas intermedias, en rosa: hace, con id_alumno e id_proyecto como clave compuesta, y asignado, con id_clase e id_docente.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 forma normal: nada de grupos de columnas repetidas, así que cada nota es una fila en la tabla hace. Segunda: en una tabla con clave compuesta, cada dato depende de la clave entera; apto depende de alumno y proyecto a la vez. Tercera: nada depende de otro dato que no sea la clave; la fecha de comienzo depende de la promoción, no del alumno, así que vive en promo y se escribe una sola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Creamos la base de datos en Supabase, que da un PostgreSQL gratuito en la nube. Ejecutamos dos scripts: querysCreateTables.sql para las tablas y querysInsertData.sql para cargar los datos de los CSV. Así se puede acceder desde aplicaciones de terceros como pgAdmin o DBeaver. Las credenciales no están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Ahora enseñamos que la base de datos funciona con tres consultas reales, ejecutadas en pgAdmin contra la base de datos de Supabase.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 básica: SELECT * FROM alumno. Salen los 52 alumnos de los cuatro CSV. Cada uno guarda solo su id_clase: ni campus, ni promoción, ni fecha.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ve la ventaja de normalizar. El docente no guarda su campus: lo sacamos uniendo docente, asignado, clase y campus con INNER JOIN. Docente va a asignado, asignado a clase y clase a campus.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los CSV la especialidad ni siquiera aparecía: había que deducirla por los proyectos. Ahora la sacamos con un JOIN: alumno, clase y especialidad. Cada alumno sale con DS o 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el bootcamp abre Ciberseguridad. Con los CSV habría que crear columnas nuevas como Proyecto_Redes, y los alumnos actuales las tendrían vacías: cada cambio obliga a rediseñar la tabla. Con nuestra base de datos basta con una fila nueva en especialidad y una fila por proyecto en la tabla proyecto. La estructura no se toca. Lo mismo vale para un campus, una promoción o un docente nuevos.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El repositorio tiene los diagramas, los scripts de creación de tablas y de carga de datos, y las consultas de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66800"/>
            <a:ext cx="3302000" cy="69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70075"/>
            <a:ext cx="10566400" cy="397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66800"/>
            <a:ext cx="3302000" cy="69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70075"/>
            <a:ext cx="10566400" cy="397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433340"/>
            <a:ext cx="1016000" cy="76200"/>
          </a:xfrm>
          <a:prstGeom prst="rect">
            <a:avLst/>
          </a:prstGeom>
          <a:solidFill>
            <a:srgbClr val="7FB2FF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763540"/>
            <a:ext cx="711585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BBDD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12800" y="3975665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relacional en PostgreSQL</a:t>
            </a:r>
            <a:endParaRPr lang="en-US" sz="2200" dirty="0"/>
          </a:p>
        </p:txBody>
      </p:sp>
      <p:pic>
        <p:nvPicPr>
          <p:cNvPr id="5" name="Picture 4" descr="SELECT * FROM MEME_IDEAS WHERE TOPIC = 'SQL' AND EFFORT ...">
            <a:extLst>
              <a:ext uri="{FF2B5EF4-FFF2-40B4-BE49-F238E27FC236}">
                <a16:creationId xmlns:a16="http://schemas.microsoft.com/office/drawing/2014/main" id="{B01ED1FA-7427-18E3-BE91-8F7CC300C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658" y="1360162"/>
            <a:ext cx="3304852" cy="4137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A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755900"/>
            <a:ext cx="1016000" cy="762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08610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SQL</a:t>
            </a:r>
            <a:endParaRPr lang="en-US" sz="8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7FB2FF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6800"/>
            <a:ext cx="340106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E/R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1717030"/>
            <a:ext cx="3316732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entidades conectadas a través de Clase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relaciones N:M con atributos propios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21200" y="812800"/>
            <a:ext cx="6858000" cy="5029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S"/>
          </a:p>
        </p:txBody>
      </p:sp>
      <p:pic>
        <p:nvPicPr>
          <p:cNvPr id="6" name="Image 0" descr="Diagrama entidad-relación del proyecto"/>
          <p:cNvPicPr>
            <a:picLocks noChangeAspect="1"/>
          </p:cNvPicPr>
          <p:nvPr/>
        </p:nvPicPr>
        <p:blipFill>
          <a:blip r:embed="rId3"/>
          <a:srcRect t="-1101" b="-1101"/>
          <a:stretch/>
        </p:blipFill>
        <p:spPr>
          <a:xfrm>
            <a:off x="4673600" y="965200"/>
            <a:ext cx="6553200" cy="472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7FB2FF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6800"/>
            <a:ext cx="340106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lógico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1717030"/>
            <a:ext cx="3316732" cy="173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tablas, cada una con su clave primaria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 foráneas en el lado de los muchos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 y asignado como tablas intermedias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21200" y="812800"/>
            <a:ext cx="6858000" cy="5029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S"/>
          </a:p>
        </p:txBody>
      </p:sp>
      <p:pic>
        <p:nvPicPr>
          <p:cNvPr id="6" name="Image 0" descr="Diagrama del modelo lógico con las 9 tablas, claves primarias y foráneas"/>
          <p:cNvPicPr>
            <a:picLocks noChangeAspect="1"/>
          </p:cNvPicPr>
          <p:nvPr/>
        </p:nvPicPr>
        <p:blipFill>
          <a:blip r:embed="rId3"/>
          <a:srcRect t="-7052" b="-7052"/>
          <a:stretch/>
        </p:blipFill>
        <p:spPr>
          <a:xfrm>
            <a:off x="4673600" y="965200"/>
            <a:ext cx="6553200" cy="472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7FB2FF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6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600757"/>
            <a:ext cx="3386634" cy="1930350"/>
          </a:xfrm>
          <a:prstGeom prst="rect">
            <a:avLst/>
          </a:prstGeom>
          <a:solidFill>
            <a:srgbClr val="22304D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6" name="Text 4"/>
          <p:cNvSpPr/>
          <p:nvPr/>
        </p:nvSpPr>
        <p:spPr>
          <a:xfrm>
            <a:off x="955555" y="2746499"/>
            <a:ext cx="2860345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80047" y="3401839"/>
            <a:ext cx="286034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columnas Proyecto_* pasan a ser filas en </a:t>
            </a:r>
            <a:r>
              <a:rPr lang="en-US" sz="1600" b="1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2685" y="2600757"/>
            <a:ext cx="3386683" cy="1930350"/>
          </a:xfrm>
          <a:prstGeom prst="rect">
            <a:avLst/>
          </a:prstGeom>
          <a:solidFill>
            <a:srgbClr val="22304D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0" name="Text 8"/>
          <p:cNvSpPr/>
          <p:nvPr/>
        </p:nvSpPr>
        <p:spPr>
          <a:xfrm>
            <a:off x="4707485" y="2956357"/>
            <a:ext cx="2860396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07485" y="3657387"/>
            <a:ext cx="286039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</a:t>
            </a:r>
            <a:r>
              <a:rPr lang="en-US" sz="16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depende del alumno y del proyecto a la vez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2568" y="2600757"/>
            <a:ext cx="3386683" cy="1930350"/>
          </a:xfrm>
          <a:prstGeom prst="rect">
            <a:avLst/>
          </a:prstGeom>
          <a:solidFill>
            <a:srgbClr val="22304D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4" name="Text 12"/>
          <p:cNvSpPr/>
          <p:nvPr/>
        </p:nvSpPr>
        <p:spPr>
          <a:xfrm>
            <a:off x="8297368" y="2956357"/>
            <a:ext cx="2860396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3FN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297368" y="3657387"/>
            <a:ext cx="286039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fecha_comienzo</a:t>
            </a:r>
            <a:r>
              <a:rPr lang="en-US" sz="16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guarda una sola vez, en promo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51" y="6385798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7FB2FF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6800"/>
            <a:ext cx="340106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en Supabase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164060"/>
            <a:ext cx="3316732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gratuito alojado en la nube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desde pgAdmin y DBeaver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21200" y="812800"/>
            <a:ext cx="6858000" cy="5029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S"/>
          </a:p>
        </p:txBody>
      </p:sp>
      <p:pic>
        <p:nvPicPr>
          <p:cNvPr id="6" name="Image 0" descr="Esquema de las 9 tablas en el visualizador de Supabase"/>
          <p:cNvPicPr>
            <a:picLocks noChangeAspect="1"/>
          </p:cNvPicPr>
          <p:nvPr/>
        </p:nvPicPr>
        <p:blipFill>
          <a:blip r:embed="rId3"/>
          <a:srcRect t="-29817" b="-29817"/>
          <a:stretch/>
        </p:blipFill>
        <p:spPr>
          <a:xfrm>
            <a:off x="4673600" y="965200"/>
            <a:ext cx="6553200" cy="472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5A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755900"/>
            <a:ext cx="1016000" cy="762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08610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Demostraciones</a:t>
            </a:r>
            <a:endParaRPr lang="en-US" sz="8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7FB2FF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6800"/>
            <a:ext cx="340106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alumnos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164060"/>
            <a:ext cx="3316732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simple a la tabla alumno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alumnos cargados desde los CSV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21200" y="812800"/>
            <a:ext cx="6858000" cy="5029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S"/>
          </a:p>
        </p:txBody>
      </p:sp>
      <p:pic>
        <p:nvPicPr>
          <p:cNvPr id="6" name="Image 0" descr="pgAdmin: SELECT * FROM alumno devuelve 52 filas"/>
          <p:cNvPicPr>
            <a:picLocks noChangeAspect="1"/>
          </p:cNvPicPr>
          <p:nvPr/>
        </p:nvPicPr>
        <p:blipFill>
          <a:blip r:embed="rId3"/>
          <a:srcRect t="-7840" b="-7840"/>
          <a:stretch/>
        </p:blipFill>
        <p:spPr>
          <a:xfrm>
            <a:off x="4673600" y="965200"/>
            <a:ext cx="6553200" cy="472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7FB2FF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6800"/>
            <a:ext cx="340106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Docentes por campus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164060"/>
            <a:ext cx="331673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 entre 4 tablas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campus se obtiene a través de la clase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21200" y="812800"/>
            <a:ext cx="6858000" cy="5029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S"/>
          </a:p>
        </p:txBody>
      </p:sp>
      <p:pic>
        <p:nvPicPr>
          <p:cNvPr id="6" name="Image 0" descr="pgAdmin: consulta de docentes con su campus mediante JOIN"/>
          <p:cNvPicPr>
            <a:picLocks noChangeAspect="1"/>
          </p:cNvPicPr>
          <p:nvPr/>
        </p:nvPicPr>
        <p:blipFill>
          <a:blip r:embed="rId3"/>
          <a:srcRect t="-7331" b="-7331"/>
          <a:stretch/>
        </p:blipFill>
        <p:spPr>
          <a:xfrm>
            <a:off x="4673600" y="965200"/>
            <a:ext cx="6553200" cy="472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7FB2FF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6800"/>
            <a:ext cx="340106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Alumnos por especialidad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164060"/>
            <a:ext cx="331673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 entre 3 tablas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especialidad ya no hay que deducirla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21200" y="812800"/>
            <a:ext cx="6858000" cy="5029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S"/>
          </a:p>
        </p:txBody>
      </p:sp>
      <p:pic>
        <p:nvPicPr>
          <p:cNvPr id="6" name="Image 0" descr="pgAdmin: alumnos con su especialidad DS o FS mediante JOIN"/>
          <p:cNvPicPr>
            <a:picLocks noChangeAspect="1"/>
          </p:cNvPicPr>
          <p:nvPr/>
        </p:nvPicPr>
        <p:blipFill>
          <a:blip r:embed="rId3"/>
          <a:srcRect t="-7423" b="-7423"/>
          <a:stretch/>
        </p:blipFill>
        <p:spPr>
          <a:xfrm>
            <a:off x="4673600" y="965200"/>
            <a:ext cx="6553200" cy="472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89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 err="1">
                <a:solidFill>
                  <a:srgbClr val="F2F4F7"/>
                </a:solidFill>
                <a:latin typeface="Arial" pitchFamily="34" charset="0"/>
                <a:cs typeface="Arial" pitchFamily="34" charset="-120"/>
              </a:rPr>
              <a:t>Escalabilidad</a:t>
            </a:r>
            <a:endParaRPr lang="en-US" sz="4533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89760"/>
            <a:ext cx="463296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33"/>
              </a:spcAft>
            </a:pPr>
            <a:r>
              <a:rPr lang="en-US" sz="2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los CSV</a:t>
            </a:r>
            <a:endParaRPr lang="en-US" sz="2000" dirty="0"/>
          </a:p>
          <a:p>
            <a:pPr>
              <a:spcAft>
                <a:spcPts val="533"/>
              </a:spcAft>
            </a:pPr>
            <a:r>
              <a:rPr lang="en-US" sz="20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especialidad nueva obliga a crear columnas nuevas (Proyecto_Redes, Proyecto_Hacking…) y cambiar la tabla.</a:t>
            </a:r>
            <a:endParaRPr lang="en-US" sz="2000" dirty="0"/>
          </a:p>
          <a:p>
            <a:pPr>
              <a:spcAft>
                <a:spcPts val="533"/>
              </a:spcAft>
            </a:pPr>
            <a:r>
              <a:rPr lang="en-US" sz="1067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>
              <a:spcAft>
                <a:spcPts val="533"/>
              </a:spcAft>
            </a:pPr>
            <a:r>
              <a:rPr lang="en-US" sz="2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nuestra base de datos</a:t>
            </a:r>
            <a:endParaRPr lang="en-US" sz="2000" dirty="0"/>
          </a:p>
          <a:p>
            <a:pPr>
              <a:spcAft>
                <a:spcPts val="533"/>
              </a:spcAft>
            </a:pPr>
            <a:r>
              <a:rPr lang="en-US" sz="20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se añaden filas en especialidad y proyecto. La estructura no cambia.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974080" y="1889760"/>
          <a:ext cx="5486400" cy="3072384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id_proyecto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DCE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DCE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HLF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DCE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DCE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DCE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DCE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DCE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DCE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WebDev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DCE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FS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5B0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5B0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Redes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5B0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Ciberseguridad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5B0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5B0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Hacking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5B0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Ciberseguridad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0" marB="0" anchor="ctr">
                    <a:lnL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74080" y="512064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F5B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naranja: filas nuevas</a:t>
            </a:r>
            <a:endParaRPr lang="en-US" sz="16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164110"/>
            <a:ext cx="1016000" cy="76200"/>
          </a:xfrm>
          <a:prstGeom prst="rect">
            <a:avLst/>
          </a:prstGeom>
          <a:solidFill>
            <a:srgbClr val="7FB2FF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9431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Gracias!!!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12800" y="376431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40943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github.com/Yuusura/proyectoSQL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yecto BBDD">
  <a:themeElements>
    <a:clrScheme name="Proyecto BBDD">
      <a:dk1>
        <a:srgbClr val="16213A"/>
      </a:dk1>
      <a:lt1>
        <a:srgbClr val="F2F4F7"/>
      </a:lt1>
      <a:dk2>
        <a:srgbClr val="2C364D"/>
      </a:dk2>
      <a:lt2>
        <a:srgbClr val="BBBFC8"/>
      </a:lt2>
      <a:accent1>
        <a:srgbClr val="7FB2FF"/>
      </a:accent1>
      <a:accent2>
        <a:srgbClr val="8FA0BA"/>
      </a:accent2>
      <a:accent3>
        <a:srgbClr val="2E5AA8"/>
      </a:accent3>
      <a:accent4>
        <a:srgbClr val="B8C4D9"/>
      </a:accent4>
      <a:accent5>
        <a:srgbClr val="9AA0A6"/>
      </a:accent5>
      <a:accent6>
        <a:srgbClr val="9AA0AB"/>
      </a:accent6>
      <a:hlink>
        <a:srgbClr val="0563C1"/>
      </a:hlink>
      <a:folHlink>
        <a:srgbClr val="954F72"/>
      </a:folHlink>
    </a:clrScheme>
    <a:fontScheme name="Proyecto BBD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894</Words>
  <Application>Microsoft Macintosh PowerPoint</Application>
  <PresentationFormat>Widescreen</PresentationFormat>
  <Paragraphs>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Proyecto BBDD</vt:lpstr>
      <vt:lpstr>Proyecto BBDD</vt:lpstr>
      <vt:lpstr>Modelo SQL</vt:lpstr>
      <vt:lpstr>Modelo E/R</vt:lpstr>
      <vt:lpstr>Modelo lógico</vt:lpstr>
      <vt:lpstr>Normalización</vt:lpstr>
      <vt:lpstr>Base de datos en Supabase</vt:lpstr>
      <vt:lpstr>Demostraciones</vt:lpstr>
      <vt:lpstr>Todos los alumnos</vt:lpstr>
      <vt:lpstr>Docentes por campus</vt:lpstr>
      <vt:lpstr>Alumnos por especialidad</vt:lpstr>
      <vt:lpstr>PowerPoint Presentation</vt:lpstr>
      <vt:lpstr>Gracias!!!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BBDD</dc:title>
  <dc:subject/>
  <dc:creator/>
  <cp:lastModifiedBy>Maxima Milano</cp:lastModifiedBy>
  <cp:revision>3</cp:revision>
  <dcterms:created xsi:type="dcterms:W3CDTF">2026-10-29T21:36:18Z</dcterms:created>
  <dcterms:modified xsi:type="dcterms:W3CDTF">2026-10-29T21:53:06Z</dcterms:modified>
</cp:coreProperties>
</file>